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B7F7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7F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E5A-42E0-9978-8346243C2ADD}"/>
              </c:ext>
            </c:extLst>
          </c:dPt>
          <c:dPt>
            <c:idx val="1"/>
            <c:invertIfNegative val="0"/>
            <c:bubble3D val="0"/>
            <c:spPr>
              <a:solidFill>
                <a:srgbClr val="2CB5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5A-42E0-9978-8346243C2ADD}"/>
              </c:ext>
            </c:extLst>
          </c:dPt>
          <c:dPt>
            <c:idx val="2"/>
            <c:invertIfNegative val="0"/>
            <c:bubble3D val="0"/>
            <c:spPr>
              <a:solidFill>
                <a:srgbClr val="0D1B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5A-42E0-9978-8346243C2ADD}"/>
              </c:ext>
            </c:extLst>
          </c:dPt>
          <c:cat>
            <c:strRef>
              <c:f>Sheet1!$A$2:$A$4</c:f>
              <c:strCache>
                <c:ptCount val="3"/>
                <c:pt idx="0">
                  <c:v>ROUGE-1</c:v>
                </c:pt>
                <c:pt idx="1">
                  <c:v>ROUGE-2</c:v>
                </c:pt>
                <c:pt idx="2">
                  <c:v>ROUGE-L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0.3846</c:v>
                </c:pt>
                <c:pt idx="1">
                  <c:v>0.16769999999999999</c:v>
                </c:pt>
                <c:pt idx="2">
                  <c:v>0.26500000000000001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5A-42E0-9978-8346243C2A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Model vs Lead-3 ROUGE F1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Model (DistilBERT+LogReg+MMR)</c:v>
                </c:pt>
              </c:strCache>
            </c:strRef>
          </c:tx>
          <c:spPr>
            <a:solidFill>
              <a:srgbClr val="1B7F79"/>
            </a:solidFill>
            <a:effectLst/>
          </c:spPr>
          <c:invertIfNegative val="0"/>
          <c:dLbls>
            <c:dLbl>
              <c:idx val="0"/>
              <c:layout>
                <c:manualLayout>
                  <c:x val="-2.0202020202020204E-2"/>
                  <c:y val="-4.1068820671032238E-17"/>
                </c:manualLayout>
              </c:layout>
              <c:tx>
                <c:rich>
                  <a:bodyPr/>
                  <a:lstStyle/>
                  <a:p>
                    <a:fld id="{FC5AE24F-5D87-400E-B866-33E23DB364DC}" type="VALUE">
                      <a:rPr lang="en-US" smtClean="0"/>
                      <a:pPr/>
                      <a:t>[VALUE]</a:t>
                    </a:fld>
                    <a:r>
                      <a:rPr lang="en-US"/>
                      <a:t>.3846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DEAC-40D1-B945-EF4809BD9DCA}"/>
                </c:ext>
              </c:extLst>
            </c:dLbl>
            <c:dLbl>
              <c:idx val="1"/>
              <c:layout>
                <c:manualLayout>
                  <c:x val="-2.2727272727272728E-2"/>
                  <c:y val="0"/>
                </c:manualLayout>
              </c:layout>
              <c:tx>
                <c:rich>
                  <a:bodyPr/>
                  <a:lstStyle/>
                  <a:p>
                    <a:fld id="{987DB43E-8FBB-4993-A7C6-20AE56ADCA6B}" type="VALUE">
                      <a:rPr lang="en-US" smtClean="0"/>
                      <a:pPr/>
                      <a:t>[VALUE]</a:t>
                    </a:fld>
                    <a:r>
                      <a:rPr lang="en-US"/>
                      <a:t>.1677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DEAC-40D1-B945-EF4809BD9DC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CC168EB-91B3-4EA7-B86B-13FDF306464D}" type="VALUE">
                      <a:rPr lang="en-US" smtClean="0"/>
                      <a:pPr/>
                      <a:t>[VALUE]</a:t>
                    </a:fld>
                    <a:r>
                      <a:rPr lang="en-US"/>
                      <a:t>.2650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DEAC-40D1-B945-EF4809BD9DC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2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ROUGE-1</c:v>
                </c:pt>
                <c:pt idx="1">
                  <c:v>ROUGE-2</c:v>
                </c:pt>
                <c:pt idx="2">
                  <c:v>ROUGE-L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0.3846</c:v>
                </c:pt>
                <c:pt idx="1">
                  <c:v>0.16769999999999999</c:v>
                </c:pt>
                <c:pt idx="2">
                  <c:v>0.26500000000000001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C-40D1-B945-EF4809BD9D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Lead-3 Baseline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0"/>
              <c:layout>
                <c:manualLayout>
                  <c:x val="1.5151515151515152E-2"/>
                  <c:y val="0"/>
                </c:manualLayout>
              </c:layout>
              <c:tx>
                <c:rich>
                  <a:bodyPr/>
                  <a:lstStyle/>
                  <a:p>
                    <a:fld id="{368E31AA-F432-454C-A1E9-B67F4FE68C93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.3840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EAC-40D1-B945-EF4809BD9DCA}"/>
                </c:ext>
              </c:extLst>
            </c:dLbl>
            <c:dLbl>
              <c:idx val="1"/>
              <c:layout>
                <c:manualLayout>
                  <c:x val="1.5151515151515152E-2"/>
                  <c:y val="4.4802867383511727E-3"/>
                </c:manualLayout>
              </c:layout>
              <c:tx>
                <c:rich>
                  <a:bodyPr/>
                  <a:lstStyle/>
                  <a:p>
                    <a:fld id="{D4F50B24-F01F-43E3-963B-6763BEE1AD79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.1710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EAC-40D1-B945-EF4809BD9DCA}"/>
                </c:ext>
              </c:extLst>
            </c:dLbl>
            <c:dLbl>
              <c:idx val="2"/>
              <c:layout>
                <c:manualLayout>
                  <c:x val="2.2727272727272728E-2"/>
                  <c:y val="0"/>
                </c:manualLayout>
              </c:layout>
              <c:tx>
                <c:rich>
                  <a:bodyPr/>
                  <a:lstStyle/>
                  <a:p>
                    <a:fld id="{8C0CA142-E75A-4CBB-A0D5-55B904715EEF}" type="VALUE">
                      <a:rPr lang="en-US" smtClean="0"/>
                      <a:pPr/>
                      <a:t>[VALUE]</a:t>
                    </a:fld>
                    <a:r>
                      <a:rPr lang="en-US"/>
                      <a:t>.2464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DEAC-40D1-B945-EF4809BD9DC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2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ROUGE-1</c:v>
                </c:pt>
                <c:pt idx="1">
                  <c:v>ROUGE-2</c:v>
                </c:pt>
                <c:pt idx="2">
                  <c:v>ROUGE-L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0.38400000000000001</c:v>
                </c:pt>
                <c:pt idx="1">
                  <c:v>0.17100000000000001</c:v>
                </c:pt>
                <c:pt idx="2">
                  <c:v>0.24640000000000001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AC-40D1-B945-EF4809BD9D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Model Architecture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DistilBERT + LogReg</c:v>
                </c:pt>
              </c:strCache>
            </c:strRef>
          </c:tx>
          <c:spPr>
            <a:solidFill>
              <a:srgbClr val="1B7F79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0.65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9CA-444A-A10C-FD45C1C20B0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0.26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9CA-444A-A10C-FD45C1C20B0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0.80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9CA-444A-A10C-FD45C1C20B0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0.39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A9CA-444A-A10C-FD45C1C20B0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2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0.6502</c:v>
                </c:pt>
                <c:pt idx="1">
                  <c:v>0.25530000000000003</c:v>
                </c:pt>
                <c:pt idx="2">
                  <c:v>0.79669999999999996</c:v>
                </c:pt>
                <c:pt idx="3">
                  <c:v>0.38669999999999999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CA-444A-A10C-FD45C1C20B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MiniLM + XGBoost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0.70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9CA-444A-A10C-FD45C1C20B0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F0878F9-5623-4B9A-A813-D92833966E14}" type="VALUE">
                      <a:rPr lang="en-US" smtClean="0"/>
                      <a:pPr/>
                      <a:t>[VALUE]</a:t>
                    </a:fld>
                    <a:r>
                      <a:rPr lang="en-US"/>
                      <a:t>.27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A9CA-444A-A10C-FD45C1C20B0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0.71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A9CA-444A-A10C-FD45C1C20B0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E816B2A-D8C0-49FA-BE64-67682C9F984D}" type="VALUE">
                      <a:rPr lang="en-US" smtClean="0"/>
                      <a:pPr/>
                      <a:t>[VALUE]</a:t>
                    </a:fld>
                    <a:r>
                      <a:rPr lang="en-US"/>
                      <a:t>.40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A9CA-444A-A10C-FD45C1C20B0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2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0.6996</c:v>
                </c:pt>
                <c:pt idx="1">
                  <c:v>0.27</c:v>
                </c:pt>
                <c:pt idx="2">
                  <c:v>0.71</c:v>
                </c:pt>
                <c:pt idx="3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CA-444A-A10C-FD45C1C20B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14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5029200" cy="5029200"/>
          </a:xfrm>
          <a:prstGeom prst="ellipse">
            <a:avLst/>
          </a:prstGeom>
          <a:solidFill>
            <a:srgbClr val="1B7F7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2CB5A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E096E13-C5B3-24E3-4D3A-EE6C9C168E32}"/>
              </a:ext>
            </a:extLst>
          </p:cNvPr>
          <p:cNvGrpSpPr/>
          <p:nvPr/>
        </p:nvGrpSpPr>
        <p:grpSpPr>
          <a:xfrm>
            <a:off x="548640" y="530352"/>
            <a:ext cx="2926080" cy="402336"/>
            <a:chOff x="548640" y="530352"/>
            <a:chExt cx="2926080" cy="402336"/>
          </a:xfrm>
        </p:grpSpPr>
        <p:sp>
          <p:nvSpPr>
            <p:cNvPr id="4" name="Shape 2"/>
            <p:cNvSpPr/>
            <p:nvPr/>
          </p:nvSpPr>
          <p:spPr>
            <a:xfrm>
              <a:off x="548640" y="548640"/>
              <a:ext cx="2926080" cy="384048"/>
            </a:xfrm>
            <a:prstGeom prst="roundRect">
              <a:avLst>
                <a:gd name="adj" fmla="val 11905"/>
              </a:avLst>
            </a:prstGeom>
            <a:solidFill>
              <a:srgbClr val="1B7F7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548640" y="530352"/>
              <a:ext cx="2926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CSE489 · Selected Topics in Data Science</a:t>
              </a:r>
              <a:endParaRPr lang="en-US" sz="1100" b="1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548640" y="11430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Extractive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2CB5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Summarization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NLP Pipeline Using Transformer Embeddings &amp; ML Classifiers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Members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83080" y="1600200"/>
            <a:ext cx="1371600" cy="1371600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83080" y="1600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YM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233"/>
                </a:solidFill>
              </a:rPr>
              <a:t>Yehia Mahmoud Lotfy Sakr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611880"/>
            <a:ext cx="2194560" cy="292608"/>
          </a:xfrm>
          <a:prstGeom prst="rect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3611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21P0166</a:t>
            </a:r>
            <a:endParaRPr lang="en-US" sz="1100" b="1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80760" y="1600200"/>
            <a:ext cx="1371600" cy="1371600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600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HM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4632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233"/>
                </a:solidFill>
              </a:rPr>
              <a:t>Hana Mohamed Mohamed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0" y="3611880"/>
            <a:ext cx="2194560" cy="292608"/>
          </a:xfrm>
          <a:prstGeom prst="rect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3611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21P0162</a:t>
            </a:r>
            <a:endParaRPr lang="en-US" sz="1100" b="1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</a:rPr>
              <a:t>Faculty of Engineering · Ain Shams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9"/>
                </a:solidFill>
              </a:rPr>
              <a:t>What is Extractive Summarization?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Select and extract the most salient sentences from a document — no new text is generated.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Framed as a binary classification: predict whether each sentence belongs in the summary.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Uses transformer embeddings (DistilBERT, MiniLM) + ML classifiers (Logistic Regression, XGBoost).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Hybrid features: deep semantics + position, length, TF-IDF scores.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Evaluated with ROUGE-1, ROUGE-2, ROUGE-L metrics on CNN/DailyMail dataset.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9"/>
                </a:solidFill>
              </a:rPr>
              <a:t>How Extractive Works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3474720" cy="320040"/>
          </a:xfrm>
          <a:prstGeom prst="rect">
            <a:avLst/>
          </a:prstGeom>
          <a:solidFill>
            <a:srgbClr val="D6F0EE"/>
          </a:solidFill>
          <a:ln w="1905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F79"/>
                </a:solidFill>
              </a:rPr>
              <a:t>Sentence 1: Boris Becker arrived at Stanford Bridge...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14604" y="1792224"/>
            <a:ext cx="201168" cy="201168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2121408"/>
            <a:ext cx="3474720" cy="320040"/>
          </a:xfrm>
          <a:prstGeom prst="rect">
            <a:avLst/>
          </a:prstGeom>
          <a:solidFill>
            <a:srgbClr val="E8EEF4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21214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Sentence 2: He was wearing a scarf with skulls.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505456"/>
            <a:ext cx="3474720" cy="320040"/>
          </a:xfrm>
          <a:prstGeom prst="rect">
            <a:avLst/>
          </a:prstGeom>
          <a:solidFill>
            <a:srgbClr val="D6F0EE"/>
          </a:solidFill>
          <a:ln w="1905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25054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F79"/>
                </a:solidFill>
              </a:rPr>
              <a:t>Sentence 3: There is no suggestion he was aware...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14604" y="2560320"/>
            <a:ext cx="201168" cy="201168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889504"/>
            <a:ext cx="3474720" cy="320040"/>
          </a:xfrm>
          <a:prstGeom prst="rect">
            <a:avLst/>
          </a:prstGeom>
          <a:solidFill>
            <a:srgbClr val="E8EEF4"/>
          </a:solidFill>
          <a:ln w="635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288950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Sentence 4: Chelsea fans cheered as he entered.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273552"/>
            <a:ext cx="3474720" cy="320040"/>
          </a:xfrm>
          <a:prstGeom prst="rect">
            <a:avLst/>
          </a:prstGeom>
          <a:solidFill>
            <a:srgbClr val="D6F0EE"/>
          </a:solidFill>
          <a:ln w="1905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32735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F79"/>
                </a:solidFill>
              </a:rPr>
              <a:t>Sentence 5: The match ended in a 2-1 victory.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14604" y="3328416"/>
            <a:ext cx="201168" cy="201168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09560" y="1920239"/>
            <a:ext cx="0" cy="1512277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3749040"/>
            <a:ext cx="3474720" cy="868680"/>
          </a:xfrm>
          <a:prstGeom prst="rect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SUMMARY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410495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F0EE"/>
                </a:solidFill>
              </a:rPr>
              <a:t>Extracted sentences 1, 3, 5 stitched in original order.</a:t>
            </a:r>
            <a:endParaRPr lang="en-US" sz="105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Core NLP Utilities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73152" cy="18288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</a:rPr>
              <a:t>CNN/DailyMail Dataset (v3.0.0)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Loaded via HuggingFace 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Train: 1,000 articles sampled 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Test: 100 articles sampled 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Filtered: 3–25 sentences per article 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Labels via ROUGE-L similarity to highlights 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73152" cy="1828800"/>
          </a:xfrm>
          <a:prstGeom prst="rect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234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233"/>
                </a:solidFill>
              </a:rPr>
              <a:t>Core NLP Utilities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62763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Sentence Splitting via spaCy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Coreference Resolution (fastcoref)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Oracle Label Creation (ROUGE-L)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Summary Builder (word-limit enforced)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48577"/>
            <a:ext cx="1828800" cy="777240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548577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3731457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7F79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60320" y="3548577"/>
            <a:ext cx="1828800" cy="777240"/>
          </a:xfrm>
          <a:prstGeom prst="rect">
            <a:avLst/>
          </a:prstGeom>
          <a:solidFill>
            <a:srgbClr val="1B7F7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3548577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Sentences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3731457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7F79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3548577"/>
            <a:ext cx="1828800" cy="777240"/>
          </a:xfrm>
          <a:prstGeom prst="rect">
            <a:avLst/>
          </a:prstGeom>
          <a:solidFill>
            <a:srgbClr val="1B7F7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3548577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Oracle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Labels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3731457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7F79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66560" y="3548577"/>
            <a:ext cx="1828800" cy="7772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0" y="3548577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Array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417257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C93"/>
                </a:solidFill>
              </a:rPr>
              <a:t>Data Preparation Pipeline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Embedder, Encoding &amp; 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41148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Embedder Class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2233"/>
                </a:solidFill>
              </a:rPr>
              <a:t>Model: distilbert-base-uncased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2233"/>
                </a:solidFill>
              </a:rPr>
              <a:t>Batch encoding (batch=16)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2233"/>
                </a:solidFill>
              </a:rPr>
              <a:t>Mean-pooling on last hidden states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2233"/>
                </a:solidFill>
              </a:rPr>
              <a:t>Attention mask excludes padding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2233"/>
                </a:solidFill>
              </a:rPr>
              <a:t>Output: float32 embeddings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1430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83280" y="1143000"/>
            <a:ext cx="2743200" cy="411480"/>
          </a:xfrm>
          <a:prstGeom prst="rect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Handcrafted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64592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2233"/>
                </a:solidFill>
              </a:rPr>
              <a:t>Relative Position: idx / total_sents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2233"/>
                </a:solidFill>
              </a:rPr>
              <a:t>Word Count: sentence density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2233"/>
                </a:solidFill>
              </a:rPr>
              <a:t>TF-IDF Relevance: keyword density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2233"/>
                </a:solidFill>
              </a:rPr>
              <a:t>News front-loads key info → position matters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A2233"/>
                </a:solidFill>
              </a:rPr>
              <a:t>Features horizontally stacked onto embeddings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143000"/>
            <a:ext cx="23774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1143000"/>
            <a:ext cx="2377440" cy="4114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flatten() 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645920"/>
            <a:ext cx="21945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</a:rPr>
              <a:t>X matrix: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2233"/>
                </a:solidFill>
              </a:rPr>
              <a:t>[DistilBERT (768-d) ‖ pos ‖ length ‖ tfidf]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</a:rPr>
              <a:t>y vector: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2233"/>
                </a:solidFill>
              </a:rPr>
              <a:t>Binary oracle labels (0 / 1)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</a:rPr>
              <a:t>1,000 articles × N sentences each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9067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7F79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0819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A623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Model: Logistic Regression &amp;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</a:rPr>
              <a:t>Logistic Regression Classifier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Trained on hybrid feature vectors (X_train, y_train)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class_weight='balanced' — handles label imbalance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Predicts sentence-level summary probability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420624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F79"/>
                </a:solidFill>
              </a:rPr>
              <a:t>Sentence Classification Results (Class 1 — Summary)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64208"/>
            <a:ext cx="182880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2CB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6642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7F79"/>
                </a:solidFill>
              </a:rPr>
              <a:t>0.6502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20665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</a:rPr>
              <a:t>Accuracy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2441448"/>
            <a:ext cx="182880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2CB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24414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7F79"/>
                </a:solidFill>
              </a:rPr>
              <a:t>0.2553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8437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</a:rPr>
              <a:t>Precision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664208"/>
            <a:ext cx="182880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2CB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16642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7F79"/>
                </a:solidFill>
              </a:rPr>
              <a:t>0.7967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20665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</a:rPr>
              <a:t>Recall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2441448"/>
            <a:ext cx="182880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2CB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24414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7F79"/>
                </a:solidFill>
              </a:rPr>
              <a:t>0.3867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28437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C93"/>
                </a:solidFill>
              </a:rPr>
              <a:t>F1-Score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584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3"/>
                </a:solidFill>
              </a:rPr>
              <a:t>Confusion Matrix Breakdown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652407"/>
              </p:ext>
            </p:extLst>
          </p:nvPr>
        </p:nvGraphicFramePr>
        <p:xfrm>
          <a:off x="502920" y="3931920"/>
          <a:ext cx="8229600" cy="868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</a:rPr>
                        <a:t>Pred: Not Summary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</a:rPr>
                        <a:t>Pred: In Summary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</a:rPr>
                        <a:t>Act: Not Summary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7F79"/>
                          </a:solidFill>
                        </a:rPr>
                        <a:t>TN = 1170 ✓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FP = 697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233"/>
                          </a:solidFill>
                        </a:rPr>
                        <a:t>Act: In Summary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</a:rPr>
                        <a:t>FN = 61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7F79"/>
                          </a:solidFill>
                        </a:rPr>
                        <a:t>TP = 239 ✓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Text 18">
            <a:extLst>
              <a:ext uri="{FF2B5EF4-FFF2-40B4-BE49-F238E27FC236}">
                <a16:creationId xmlns:a16="http://schemas.microsoft.com/office/drawing/2014/main" id="{14C97EF2-C2DC-BB38-17F9-664487D0F6FA}"/>
              </a:ext>
            </a:extLst>
          </p:cNvPr>
          <p:cNvSpPr/>
          <p:nvPr/>
        </p:nvSpPr>
        <p:spPr>
          <a:xfrm>
            <a:off x="4754880" y="3018927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C93"/>
                </a:solidFill>
              </a:rPr>
              <a:t>High Recall (0.80) — model correctly finds most summary sentences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Summary &amp; ROUGE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</a:rPr>
              <a:t>predict_summary()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1. Encode sentences with DistilBERT embedder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2. Compute TF-IDF, position, length features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3. Stack into feature matrix 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4. Get class probabilities via clf.predict_proba()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5. Select top-K sentences by probability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6. build_summary() stitches in original order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7. Enforces max_summary_words = 60 limit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42062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79"/>
                </a:solidFill>
              </a:rPr>
              <a:t>ROUGE F1 Scores (Test Set, n=100)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C93"/>
                </a:solidFill>
              </a:rPr>
              <a:t>ROUGE (Recall-Oriented Understudy for Gisting Evaluation) measures lexical overlap between predicted and reference summaries.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148840"/>
            <a:ext cx="393192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21671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7F79"/>
                </a:solidFill>
              </a:rPr>
              <a:t>ROUGE-1: </a:t>
            </a:r>
            <a:r>
              <a:rPr lang="en-US" sz="1050" dirty="0">
                <a:solidFill>
                  <a:srgbClr val="1A2233"/>
                </a:solidFill>
              </a:rPr>
              <a:t>Unigram overlap — single word matches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0" y="216712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7F79"/>
                </a:solidFill>
              </a:rPr>
              <a:t>0.3846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87752"/>
            <a:ext cx="393192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6060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7F79"/>
                </a:solidFill>
              </a:rPr>
              <a:t>ROUGE-2: </a:t>
            </a:r>
            <a:r>
              <a:rPr lang="en-US" sz="1050" dirty="0">
                <a:solidFill>
                  <a:srgbClr val="1A2233"/>
                </a:solidFill>
              </a:rPr>
              <a:t>Bigram overlap — two-word phrase matches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0" y="260604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7F79"/>
                </a:solidFill>
              </a:rPr>
              <a:t>0.1677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26664"/>
            <a:ext cx="3931920" cy="384048"/>
          </a:xfrm>
          <a:prstGeom prst="rect">
            <a:avLst/>
          </a:prstGeom>
          <a:solidFill>
            <a:srgbClr val="F4F7FA"/>
          </a:solidFill>
          <a:ln w="635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30449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7F79"/>
                </a:solidFill>
              </a:rPr>
              <a:t>ROUGE-L: </a:t>
            </a:r>
            <a:r>
              <a:rPr lang="en-US" sz="1050" dirty="0">
                <a:solidFill>
                  <a:srgbClr val="1A2233"/>
                </a:solidFill>
              </a:rPr>
              <a:t>Longest common subsequence — captures fluency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304495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7F79"/>
                </a:solidFill>
              </a:rPr>
              <a:t>0.2650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617720" y="3493008"/>
          <a:ext cx="4114800" cy="987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Ultimate Summarization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84048"/>
          </a:xfrm>
          <a:prstGeom prst="rect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TF-IDF Theme Extraction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3"/>
                </a:solidFill>
              </a:rPr>
              <a:t>Identifies top keyword themes across bigrams/unigrams. Surfaces the 'what' of the article instantly.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3840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1887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Named Entity Recognition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62763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3"/>
                </a:solidFill>
              </a:rPr>
              <a:t>SpaCy highlights PERSON, ORG, and GPE entities — the 'who' and 'where' of each article.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384048"/>
          </a:xfrm>
          <a:prstGeom prst="rect">
            <a:avLst/>
          </a:prstGeom>
          <a:solidFill>
            <a:srgbClr val="7B4E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11887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MMR (Maximal Marginal Relevance)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62763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3"/>
                </a:solidFill>
              </a:rPr>
              <a:t>Lambda slider balances relevance vs. diversity. Eliminates redundant sentences from summaries.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265176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063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Coreference Resolution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021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3"/>
                </a:solidFill>
              </a:rPr>
              <a:t>Checkbox toggle. Replaces pronouns (he, it) with actual entity names for standalone readability.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0632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2651760" cy="38404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0" y="3063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 Sentence Highlighting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5021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3"/>
                </a:solidFill>
              </a:rPr>
              <a:t>Selected sentences appear highlighted in teal; ignored text is dimmed — making model choices transparent.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0632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0" y="3063240"/>
            <a:ext cx="2651760" cy="384048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5040" y="3063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Summary Length Control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5021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233"/>
                </a:solidFill>
              </a:rPr>
              <a:t>IntSlider lets users set the number of sentences (K) to include, giving real-time control over verbosity.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2CB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7F79"/>
                </a:solidFill>
              </a:rPr>
              <a:t>Built with ipywidgets — interactive real-time experimentation in Jupyter Notebook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60996B8-FF93-8659-EAD4-E19201986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566"/>
            <a:ext cx="9144000" cy="425036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Lead-3 Baseline Comparison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73152" cy="8686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3"/>
                </a:solidFill>
              </a:rPr>
              <a:t>Lead-3 Baseline: </a:t>
            </a:r>
            <a:r>
              <a:rPr lang="en-US" sz="1400" dirty="0">
                <a:solidFill>
                  <a:srgbClr val="1A2233"/>
                </a:solidFill>
              </a:rPr>
              <a:t>Simply extracts the first 3 sentences of every news article — exploits the journalistic inverted pyramid structure. No ML required.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959900304"/>
              </p:ext>
            </p:extLst>
          </p:nvPr>
        </p:nvGraphicFramePr>
        <p:xfrm>
          <a:off x="365760" y="210312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2103120"/>
            <a:ext cx="3200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0" y="2194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79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0" y="260604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Our model matches or exceeds Lead-3 on ROUGE-1 &amp; ROUGE-L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ROUGE-2 slightly lower — bigram overlap harder to optimize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Our model adds semantic understanding &amp; diversity (MMR)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</a:rPr>
              <a:t>Validated that the ML pipeline adds meaningful value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 Architecture: MiniLM + XGBoost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Architecture A: DistilBERT + LogReg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768-dim contextual embeddings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Pos + Length + TF-IDF features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Logistic Regression (balanced)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Accuracy: 0.6502 | F1: 0.3867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Lower Recall: 0.71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Architecture B: MiniLM + XGBoost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1627632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all-MiniLM-L6-v2 (384-dim, faster)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Pos + Length features only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XGBoost (n=100, lr=0.1, d=5)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Accuracy: 0.6996 | F1: 0.4000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Higher recall: 0.80</a:t>
            </a:r>
            <a:endParaRPr lang="en-US" sz="14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1633671017"/>
              </p:ext>
            </p:extLst>
          </p:nvPr>
        </p:nvGraphicFramePr>
        <p:xfrm>
          <a:off x="365760" y="3337560"/>
          <a:ext cx="841248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F494D9B6-12A8-6D72-364F-5C8B23745B7C}"/>
              </a:ext>
            </a:extLst>
          </p:cNvPr>
          <p:cNvGrpSpPr/>
          <p:nvPr/>
        </p:nvGrpSpPr>
        <p:grpSpPr>
          <a:xfrm>
            <a:off x="4233672" y="1737360"/>
            <a:ext cx="685800" cy="685800"/>
            <a:chOff x="4233672" y="1737360"/>
            <a:chExt cx="685800" cy="685800"/>
          </a:xfrm>
        </p:grpSpPr>
        <p:sp>
          <p:nvSpPr>
            <p:cNvPr id="8" name="Shape 6"/>
            <p:cNvSpPr/>
            <p:nvPr/>
          </p:nvSpPr>
          <p:spPr>
            <a:xfrm>
              <a:off x="4233672" y="1737360"/>
              <a:ext cx="685800" cy="685800"/>
            </a:xfrm>
            <a:prstGeom prst="ellipse">
              <a:avLst/>
            </a:prstGeom>
            <a:solidFill>
              <a:srgbClr val="0D1B3E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233672" y="1737360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VS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6400800" cy="6400800"/>
          </a:xfrm>
          <a:prstGeom prst="ellipse">
            <a:avLst/>
          </a:prstGeom>
          <a:solidFill>
            <a:srgbClr val="1B7F79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2CB5A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88595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914400" y="48463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680"/>
                </a:solidFill>
              </a:rPr>
              <a:t>Faculty of Engineering · Ain Shams University · CSE489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926</Words>
  <Application>Microsoft Office PowerPoint</Application>
  <PresentationFormat>On-screen Show (16:9)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Extractive Summarization</dc:title>
  <dc:subject>PptxGenJS Presentation</dc:subject>
  <dc:creator>Yehia Mahmoud &amp; Hana Mohamed</dc:creator>
  <cp:lastModifiedBy>Yehia Mahmoud Lotfy Sakr 21P0166</cp:lastModifiedBy>
  <cp:revision>27</cp:revision>
  <dcterms:created xsi:type="dcterms:W3CDTF">2026-05-11T21:41:20Z</dcterms:created>
  <dcterms:modified xsi:type="dcterms:W3CDTF">2026-05-12T01:29:36Z</dcterms:modified>
</cp:coreProperties>
</file>